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21" Type="http://schemas.openxmlformats.org/officeDocument/2006/relationships/font" Target="fonts/OpenSans-boldItalic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7e8422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d7e8422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d4d47a392_0_5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6d4d47a392_0_5:notes"/>
          <p:cNvSpPr txBox="1"/>
          <p:nvPr>
            <p:ph idx="1" type="body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3075" lIns="86175" spcFirstLastPara="1" rIns="86175" wrap="square" tIns="4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6d4d47a392_0_5:notes"/>
          <p:cNvSpPr txBox="1"/>
          <p:nvPr>
            <p:ph idx="3" type="hdr"/>
          </p:nvPr>
        </p:nvSpPr>
        <p:spPr>
          <a:xfrm>
            <a:off x="0" y="0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075" lIns="86175" spcFirstLastPara="1" rIns="86175" wrap="square" tIns="4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98" name="Google Shape;98;g36d4d47a392_0_5:notes"/>
          <p:cNvSpPr txBox="1"/>
          <p:nvPr>
            <p:ph idx="11" type="ftr"/>
          </p:nvPr>
        </p:nvSpPr>
        <p:spPr>
          <a:xfrm>
            <a:off x="0" y="8685893"/>
            <a:ext cx="6858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3075" lIns="86175" spcFirstLastPara="1" rIns="86175" wrap="square" tIns="43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99" name="Google Shape;99;g36d4d47a392_0_5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3075" lIns="86175" spcFirstLastPara="1" rIns="86175" wrap="square" tIns="430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d1c4877d0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d1c4877d0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d1c4877d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d1c4877d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reak Slide - Light Background" showMasterSp="0">
  <p:cSld name="1_Break Slide - Light Background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462840" y="4840321"/>
            <a:ext cx="13716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4460545" y="912026"/>
            <a:ext cx="4683600" cy="33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3"/>
          <p:cNvSpPr/>
          <p:nvPr/>
        </p:nvSpPr>
        <p:spPr>
          <a:xfrm rot="5400000">
            <a:off x="-230019" y="230021"/>
            <a:ext cx="5143501" cy="4683459"/>
          </a:xfrm>
          <a:custGeom>
            <a:rect b="b" l="l" r="r" t="t"/>
            <a:pathLst>
              <a:path extrusionOk="0" h="4683459" w="5143501">
                <a:moveTo>
                  <a:pt x="0" y="4683459"/>
                </a:moveTo>
                <a:lnTo>
                  <a:pt x="0" y="101289"/>
                </a:lnTo>
                <a:lnTo>
                  <a:pt x="2503420" y="98908"/>
                </a:lnTo>
                <a:lnTo>
                  <a:pt x="2583072" y="0"/>
                </a:lnTo>
                <a:lnTo>
                  <a:pt x="2688919" y="101289"/>
                </a:lnTo>
                <a:lnTo>
                  <a:pt x="5143501" y="101289"/>
                </a:lnTo>
                <a:lnTo>
                  <a:pt x="5143501" y="4683459"/>
                </a:lnTo>
                <a:lnTo>
                  <a:pt x="0" y="4683459"/>
                </a:lnTo>
                <a:close/>
              </a:path>
            </a:pathLst>
          </a:custGeom>
          <a:solidFill>
            <a:srgbClr val="F8F4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309566" y="397867"/>
            <a:ext cx="852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venir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595148" y="4853441"/>
            <a:ext cx="22743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in Infectious Disease Modeling using R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 We’ll start soon.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7462840" y="4840321"/>
            <a:ext cx="13716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5"/>
          <p:cNvSpPr txBox="1"/>
          <p:nvPr>
            <p:ph type="title"/>
          </p:nvPr>
        </p:nvSpPr>
        <p:spPr>
          <a:xfrm>
            <a:off x="309566" y="397867"/>
            <a:ext cx="852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venir"/>
              <a:buNone/>
            </a:pPr>
            <a:r>
              <a:rPr lang="en"/>
              <a:t>What is data science?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8628" y="137063"/>
            <a:ext cx="3483183" cy="492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 b="8265" l="0" r="0" t="0"/>
          <a:stretch/>
        </p:blipFill>
        <p:spPr>
          <a:xfrm>
            <a:off x="309566" y="3447255"/>
            <a:ext cx="3890100" cy="1311300"/>
          </a:xfrm>
          <a:prstGeom prst="roundRect">
            <a:avLst>
              <a:gd fmla="val 5574" name="adj"/>
            </a:avLst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035441" y="1815828"/>
            <a:ext cx="4431300" cy="1283700"/>
          </a:xfrm>
          <a:prstGeom prst="rect">
            <a:avLst/>
          </a:prstGeom>
          <a:solidFill>
            <a:srgbClr val="2C65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What concept stood out to you? Why? (respond in chat)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95575" y="730325"/>
            <a:ext cx="400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Data Science provides strategies for efficient, transparent and reproducible research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729450" y="7852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expect</a:t>
            </a:r>
            <a:endParaRPr/>
          </a:p>
        </p:txBody>
      </p:sp>
      <p:sp>
        <p:nvSpPr>
          <p:cNvPr id="112" name="Google Shape;112;p16"/>
          <p:cNvSpPr txBox="1"/>
          <p:nvPr>
            <p:ph idx="2" type="body"/>
          </p:nvPr>
        </p:nvSpPr>
        <p:spPr>
          <a:xfrm>
            <a:off x="729325" y="1545475"/>
            <a:ext cx="3774300" cy="30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8" u="sng"/>
              <a:t>From Course:</a:t>
            </a:r>
            <a:endParaRPr b="1" sz="1408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Scenario based activities to apply most concepts covered in asynchronous materials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Active learning through: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zoom reactions and chats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White boards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Breakout rooms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Polls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Padlet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>
            <p:ph idx="4294967295" type="body"/>
          </p:nvPr>
        </p:nvSpPr>
        <p:spPr>
          <a:xfrm>
            <a:off x="4643600" y="1545475"/>
            <a:ext cx="3774300" cy="3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From Us: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Responsive to your needs and interests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engaging environment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Organized and enthusiastic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From Yourself: 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Ask questions of us and peers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Re-engage when mind </a:t>
            </a:r>
            <a:r>
              <a:rPr lang="en"/>
              <a:t>wanders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 can I apply this to my work?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729450" y="709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based learning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729325" y="2078875"/>
            <a:ext cx="1898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Importing Data</a:t>
            </a:r>
            <a:endParaRPr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Working with survey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Loading data via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Building data sets with joins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2710525" y="2078875"/>
            <a:ext cx="1898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Wrangling Data</a:t>
            </a:r>
            <a:endParaRPr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Working with time series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Data cleaning and manipulation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Visualization with ggplot2</a:t>
            </a:r>
            <a:endParaRPr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4996525" y="2078875"/>
            <a:ext cx="1898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Creating a SitRep</a:t>
            </a:r>
            <a:endParaRPr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Working with case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Joining related datasets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Creating visuals and summaries to highlight key trends </a:t>
            </a:r>
            <a:endParaRPr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6977725" y="2078875"/>
            <a:ext cx="1898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Office Hours Q+A</a:t>
            </a:r>
            <a:endParaRPr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Submit questions ahead of time or ask live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type="title"/>
          </p:nvPr>
        </p:nvSpPr>
        <p:spPr>
          <a:xfrm>
            <a:off x="729450" y="1513525"/>
            <a:ext cx="3879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4996525" y="1513525"/>
            <a:ext cx="3879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Tomorrow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